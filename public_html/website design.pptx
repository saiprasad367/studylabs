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1236" y="6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tudylitcslabs.com/" TargetMode="External"/><Relationship Id="rId2" Type="http://schemas.openxmlformats.org/officeDocument/2006/relationships/hyperlink" Target="https://in.godaddy.com/" TargetMode="External"/><Relationship Id="rId1" Type="http://schemas.openxmlformats.org/officeDocument/2006/relationships/slideLayout" Target="../slideLayouts/slideLayout2.xml"/><Relationship Id="rId6" Type="http://schemas.openxmlformats.org/officeDocument/2006/relationships/hyperlink" Target="mailto:manager@studylitcslabs.com" TargetMode="External"/><Relationship Id="rId5" Type="http://schemas.openxmlformats.org/officeDocument/2006/relationships/hyperlink" Target="mailto:director@studylitcslabs.com" TargetMode="External"/><Relationship Id="rId4" Type="http://schemas.openxmlformats.org/officeDocument/2006/relationships/hyperlink" Target="mailto:studylytics.labs@gmail.com"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mailto:manager@studylitcslabs.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Website design</a:t>
            </a:r>
            <a:endParaRPr lang="en-US" dirty="0"/>
          </a:p>
        </p:txBody>
      </p:sp>
      <p:sp>
        <p:nvSpPr>
          <p:cNvPr id="3" name="Subtitle 2"/>
          <p:cNvSpPr>
            <a:spLocks noGrp="1"/>
          </p:cNvSpPr>
          <p:nvPr>
            <p:ph type="subTitle" idx="1"/>
          </p:nvPr>
        </p:nvSpPr>
        <p:spPr/>
        <p:txBody>
          <a:bodyPr/>
          <a:lstStyle/>
          <a:p>
            <a:r>
              <a:rPr lang="en-US" dirty="0" err="1" smtClean="0"/>
              <a:t>Studylitcs</a:t>
            </a:r>
            <a:r>
              <a:rPr lang="en-US" dirty="0" smtClean="0"/>
              <a:t> </a:t>
            </a:r>
            <a:r>
              <a:rPr lang="en-US" dirty="0" err="1" smtClean="0"/>
              <a:t>pvt</a:t>
            </a:r>
            <a:r>
              <a:rPr lang="en-US" dirty="0" smtClean="0"/>
              <a:t> ltd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IDs and Pass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Customer number: 419469718</a:t>
            </a:r>
          </a:p>
          <a:p>
            <a:r>
              <a:rPr lang="en-US" dirty="0" smtClean="0"/>
              <a:t>User name: </a:t>
            </a:r>
            <a:r>
              <a:rPr lang="en-US" dirty="0" err="1" smtClean="0"/>
              <a:t>studylytics</a:t>
            </a:r>
            <a:endParaRPr lang="en-US" dirty="0" smtClean="0"/>
          </a:p>
          <a:p>
            <a:r>
              <a:rPr lang="en-US" dirty="0" smtClean="0"/>
              <a:t>Pass: Study@9640s</a:t>
            </a:r>
          </a:p>
          <a:p>
            <a:r>
              <a:rPr lang="en-US" dirty="0" smtClean="0">
                <a:hlinkClick r:id="rId2"/>
              </a:rPr>
              <a:t>https://in.godaddy.com</a:t>
            </a:r>
            <a:endParaRPr lang="en-US" dirty="0" smtClean="0"/>
          </a:p>
          <a:p>
            <a:r>
              <a:rPr lang="en-US" dirty="0" smtClean="0"/>
              <a:t>URL- </a:t>
            </a:r>
            <a:r>
              <a:rPr lang="en-US" dirty="0" smtClean="0">
                <a:hlinkClick r:id="rId3"/>
              </a:rPr>
              <a:t>https://</a:t>
            </a:r>
            <a:r>
              <a:rPr lang="en-US" dirty="0" smtClean="0">
                <a:hlinkClick r:id="rId3"/>
              </a:rPr>
              <a:t>studylitcslabs.com</a:t>
            </a:r>
            <a:r>
              <a:rPr lang="en-US" dirty="0" smtClean="0">
                <a:hlinkClick r:id="rId3"/>
              </a:rPr>
              <a:t>/</a:t>
            </a:r>
            <a:endParaRPr lang="en-US" dirty="0" smtClean="0"/>
          </a:p>
          <a:p>
            <a:r>
              <a:rPr lang="en-US" dirty="0" smtClean="0"/>
              <a:t>Email id: </a:t>
            </a:r>
            <a:r>
              <a:rPr lang="en-US" dirty="0" smtClean="0">
                <a:hlinkClick r:id="rId4"/>
              </a:rPr>
              <a:t>studylytics.labs@gmail.com</a:t>
            </a:r>
            <a:endParaRPr lang="en-US" dirty="0" smtClean="0"/>
          </a:p>
          <a:p>
            <a:r>
              <a:rPr lang="en-US" dirty="0" smtClean="0"/>
              <a:t>Pass: </a:t>
            </a:r>
            <a:r>
              <a:rPr lang="en-US" dirty="0" smtClean="0"/>
              <a:t>Studylytics@2021</a:t>
            </a:r>
          </a:p>
          <a:p>
            <a:r>
              <a:rPr lang="en-US" dirty="0" smtClean="0"/>
              <a:t>Company mail </a:t>
            </a:r>
            <a:r>
              <a:rPr lang="en-US" dirty="0" smtClean="0"/>
              <a:t>id- </a:t>
            </a:r>
            <a:r>
              <a:rPr lang="en-US" dirty="0" smtClean="0">
                <a:hlinkClick r:id="rId5"/>
              </a:rPr>
              <a:t>director@studylitcslabs.com</a:t>
            </a:r>
            <a:endParaRPr lang="en-US" dirty="0" smtClean="0"/>
          </a:p>
          <a:p>
            <a:pPr>
              <a:buNone/>
            </a:pPr>
            <a:r>
              <a:rPr lang="en-US" dirty="0" smtClean="0"/>
              <a:t> </a:t>
            </a:r>
            <a:r>
              <a:rPr lang="en-US" dirty="0" smtClean="0"/>
              <a:t>                                   </a:t>
            </a:r>
            <a:r>
              <a:rPr lang="en-US" dirty="0" smtClean="0">
                <a:hlinkClick r:id="rId6"/>
              </a:rPr>
              <a:t>manager@studylitcslabs.com</a:t>
            </a:r>
            <a:endParaRPr lang="en-US" dirty="0" smtClean="0"/>
          </a:p>
          <a:p>
            <a:r>
              <a:rPr lang="en-US" dirty="0" smtClean="0"/>
              <a:t> P</a:t>
            </a:r>
            <a:r>
              <a:rPr lang="en-US" dirty="0" smtClean="0"/>
              <a:t>ass: Study@9640s</a:t>
            </a: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details</a:t>
            </a:r>
            <a:endParaRPr lang="en-US" dirty="0"/>
          </a:p>
        </p:txBody>
      </p:sp>
      <p:sp>
        <p:nvSpPr>
          <p:cNvPr id="3" name="Content Placeholder 2"/>
          <p:cNvSpPr>
            <a:spLocks noGrp="1"/>
          </p:cNvSpPr>
          <p:nvPr>
            <p:ph idx="1"/>
          </p:nvPr>
        </p:nvSpPr>
        <p:spPr/>
        <p:txBody>
          <a:bodyPr>
            <a:normAutofit lnSpcReduction="10000"/>
          </a:bodyPr>
          <a:lstStyle/>
          <a:p>
            <a:r>
              <a:rPr lang="en-US" dirty="0" smtClean="0"/>
              <a:t>Managing Director: </a:t>
            </a:r>
            <a:r>
              <a:rPr lang="en-US" dirty="0" err="1" smtClean="0"/>
              <a:t>Pulla</a:t>
            </a:r>
            <a:r>
              <a:rPr lang="en-US" dirty="0" smtClean="0"/>
              <a:t> </a:t>
            </a:r>
            <a:r>
              <a:rPr lang="en-US" dirty="0" err="1" smtClean="0"/>
              <a:t>Laxmi</a:t>
            </a:r>
            <a:r>
              <a:rPr lang="en-US" dirty="0" smtClean="0"/>
              <a:t> </a:t>
            </a:r>
            <a:r>
              <a:rPr lang="en-US" dirty="0" err="1" smtClean="0"/>
              <a:t>Prasanna</a:t>
            </a:r>
            <a:endParaRPr lang="en-US" dirty="0" smtClean="0"/>
          </a:p>
          <a:p>
            <a:r>
              <a:rPr lang="en-US" dirty="0" smtClean="0"/>
              <a:t>Technical Manager: </a:t>
            </a:r>
            <a:r>
              <a:rPr lang="en-US" dirty="0" err="1" smtClean="0"/>
              <a:t>Erabati</a:t>
            </a:r>
            <a:r>
              <a:rPr lang="en-US" dirty="0" smtClean="0"/>
              <a:t> </a:t>
            </a:r>
            <a:r>
              <a:rPr lang="en-US" dirty="0" err="1" smtClean="0"/>
              <a:t>Pallavi</a:t>
            </a:r>
            <a:endParaRPr lang="en-US" dirty="0" smtClean="0"/>
          </a:p>
          <a:p>
            <a:r>
              <a:rPr lang="en-US" dirty="0" smtClean="0"/>
              <a:t>Address: </a:t>
            </a:r>
            <a:r>
              <a:rPr lang="en-US" dirty="0" err="1" smtClean="0"/>
              <a:t>H.No</a:t>
            </a:r>
            <a:r>
              <a:rPr lang="en-US" dirty="0" smtClean="0"/>
              <a:t>. 35.3.1472, Near SBI Bank, </a:t>
            </a:r>
            <a:r>
              <a:rPr lang="en-US" dirty="0" err="1" smtClean="0"/>
              <a:t>Gopalpur</a:t>
            </a:r>
            <a:r>
              <a:rPr lang="en-US" dirty="0" smtClean="0"/>
              <a:t>, Warangal Urban-506009.</a:t>
            </a:r>
          </a:p>
          <a:p>
            <a:r>
              <a:rPr lang="en-US" dirty="0" smtClean="0"/>
              <a:t>Name of contact person: </a:t>
            </a:r>
            <a:r>
              <a:rPr lang="en-US" dirty="0" err="1" smtClean="0"/>
              <a:t>Erabati</a:t>
            </a:r>
            <a:r>
              <a:rPr lang="en-US" dirty="0" smtClean="0"/>
              <a:t> </a:t>
            </a:r>
            <a:r>
              <a:rPr lang="en-US" dirty="0" err="1" smtClean="0"/>
              <a:t>Pallavi</a:t>
            </a:r>
            <a:endParaRPr lang="en-US" dirty="0" smtClean="0"/>
          </a:p>
          <a:p>
            <a:r>
              <a:rPr lang="en-US" dirty="0" smtClean="0"/>
              <a:t>Contact no: 8106761266</a:t>
            </a:r>
          </a:p>
          <a:p>
            <a:r>
              <a:rPr lang="en-US" dirty="0" smtClean="0"/>
              <a:t>Email ID</a:t>
            </a:r>
            <a:r>
              <a:rPr lang="en-US" dirty="0" smtClean="0"/>
              <a:t>:</a:t>
            </a:r>
            <a:r>
              <a:rPr lang="en-US" dirty="0" smtClean="0">
                <a:hlinkClick r:id="rId2"/>
              </a:rPr>
              <a:t> </a:t>
            </a:r>
            <a:r>
              <a:rPr lang="en-US" dirty="0" smtClean="0">
                <a:hlinkClick r:id="rId2"/>
              </a:rPr>
              <a:t>manager@studylitcslabs.com</a:t>
            </a:r>
            <a:endParaRPr lang="en-US" dirty="0" smtClean="0"/>
          </a:p>
          <a:p>
            <a:r>
              <a:rPr lang="en-US" dirty="0" smtClean="0"/>
              <a:t>Pass- </a:t>
            </a:r>
            <a:r>
              <a:rPr lang="en-US" dirty="0" smtClean="0"/>
              <a:t>Study@9640s</a:t>
            </a: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At </a:t>
            </a:r>
            <a:r>
              <a:rPr lang="en-US" dirty="0" err="1" smtClean="0"/>
              <a:t>Studylitcs</a:t>
            </a:r>
            <a:r>
              <a:rPr lang="en-US" dirty="0" smtClean="0"/>
              <a:t> </a:t>
            </a:r>
            <a:r>
              <a:rPr lang="en-US" dirty="0" smtClean="0"/>
              <a:t>labs we provide our extensive services in research and development of new innovative ideas in everlasting materials and energy engineering areas. In </a:t>
            </a:r>
            <a:r>
              <a:rPr lang="en-US" dirty="0" smtClean="0"/>
              <a:t>today’s </a:t>
            </a:r>
            <a:r>
              <a:rPr lang="en-US" dirty="0" smtClean="0"/>
              <a:t>modern world we see Engineering and research works are fast evolving. So we </a:t>
            </a:r>
            <a:r>
              <a:rPr lang="en-US" dirty="0" smtClean="0"/>
              <a:t>choose </a:t>
            </a:r>
            <a:r>
              <a:rPr lang="en-US" dirty="0" smtClean="0"/>
              <a:t>to give our best services in engineering with our research work by finding </a:t>
            </a:r>
            <a:r>
              <a:rPr lang="en-US" dirty="0" smtClean="0"/>
              <a:t>problems and giving our best in providing a solution for the problem.</a:t>
            </a:r>
            <a:endParaRPr lang="en-US" dirty="0" smtClean="0"/>
          </a:p>
          <a:p>
            <a:r>
              <a:rPr lang="en-US" dirty="0" smtClean="0"/>
              <a:t>The heart and soul of a good writing is research, you should write not what you know but what you can find out about.- Robert J </a:t>
            </a:r>
            <a:r>
              <a:rPr lang="en-US" dirty="0" smtClean="0"/>
              <a:t>Sawyer.</a:t>
            </a:r>
          </a:p>
          <a:p>
            <a:r>
              <a:rPr lang="en-US" dirty="0" smtClean="0"/>
              <a:t> 5 </a:t>
            </a:r>
            <a:r>
              <a:rPr lang="en-US" dirty="0" smtClean="0"/>
              <a:t>W’s and H theory is the main theme of out lab</a:t>
            </a:r>
          </a:p>
          <a:p>
            <a:pPr>
              <a:buNone/>
            </a:pPr>
            <a:r>
              <a:rPr lang="en-US" dirty="0" smtClean="0"/>
              <a:t>          In </a:t>
            </a:r>
            <a:r>
              <a:rPr lang="en-US" dirty="0" smtClean="0"/>
              <a:t>this </a:t>
            </a:r>
            <a:r>
              <a:rPr lang="en-US" b="1" dirty="0" smtClean="0"/>
              <a:t>W</a:t>
            </a:r>
            <a:r>
              <a:rPr lang="en-US" dirty="0" smtClean="0"/>
              <a:t>hat is the problem</a:t>
            </a:r>
          </a:p>
          <a:p>
            <a:pPr>
              <a:buNone/>
            </a:pPr>
            <a:r>
              <a:rPr lang="en-US" b="1" dirty="0" smtClean="0"/>
              <a:t>            </a:t>
            </a:r>
            <a:r>
              <a:rPr lang="en-US" b="1" dirty="0" smtClean="0"/>
              <a:t>          </a:t>
            </a:r>
            <a:r>
              <a:rPr lang="en-US" b="1" dirty="0" smtClean="0"/>
              <a:t>W</a:t>
            </a:r>
            <a:r>
              <a:rPr lang="en-US" dirty="0" smtClean="0"/>
              <a:t>ho has initially looked into it</a:t>
            </a:r>
          </a:p>
          <a:p>
            <a:pPr>
              <a:buNone/>
            </a:pPr>
            <a:r>
              <a:rPr lang="en-US" b="1" dirty="0" smtClean="0"/>
              <a:t>           </a:t>
            </a:r>
            <a:r>
              <a:rPr lang="en-US" b="1" dirty="0" smtClean="0"/>
              <a:t>           </a:t>
            </a:r>
            <a:r>
              <a:rPr lang="en-US" b="1" dirty="0" smtClean="0"/>
              <a:t>W</a:t>
            </a:r>
            <a:r>
              <a:rPr lang="en-US" dirty="0" smtClean="0"/>
              <a:t>hen did the research start in this subject</a:t>
            </a:r>
          </a:p>
          <a:p>
            <a:pPr>
              <a:buNone/>
            </a:pPr>
            <a:r>
              <a:rPr lang="en-US" b="1" dirty="0" smtClean="0"/>
              <a:t>            </a:t>
            </a:r>
            <a:r>
              <a:rPr lang="en-US" b="1" dirty="0" smtClean="0"/>
              <a:t>          </a:t>
            </a:r>
            <a:r>
              <a:rPr lang="en-US" b="1" dirty="0" smtClean="0"/>
              <a:t>W</a:t>
            </a:r>
            <a:r>
              <a:rPr lang="en-US" dirty="0" smtClean="0"/>
              <a:t>hat are the outcomes I get through this research</a:t>
            </a:r>
          </a:p>
          <a:p>
            <a:pPr>
              <a:buNone/>
            </a:pPr>
            <a:r>
              <a:rPr lang="en-US" dirty="0" smtClean="0"/>
              <a:t>              </a:t>
            </a:r>
            <a:r>
              <a:rPr lang="en-US" dirty="0" smtClean="0"/>
              <a:t>        </a:t>
            </a:r>
            <a:r>
              <a:rPr lang="en-US" b="1" dirty="0" smtClean="0"/>
              <a:t>W</a:t>
            </a:r>
            <a:r>
              <a:rPr lang="en-US" dirty="0" smtClean="0"/>
              <a:t>here can I find the solution and </a:t>
            </a:r>
            <a:r>
              <a:rPr lang="en-US" b="1" dirty="0" smtClean="0"/>
              <a:t>How</a:t>
            </a:r>
            <a:endParaRPr lang="en-US" dirty="0" smtClean="0"/>
          </a:p>
          <a:p>
            <a:pPr>
              <a:buNone/>
            </a:pPr>
            <a:r>
              <a:rPr lang="en-US" dirty="0" smtClean="0"/>
              <a:t>         This is what we believe in what we can find out about. </a:t>
            </a:r>
          </a:p>
          <a:p>
            <a:r>
              <a:rPr lang="en-US" dirty="0" smtClean="0"/>
              <a:t>Research work is all about creating new knowledge. We are here to strive hard to do our work by creating new knowledge in our specified areas like energy harvesting and material engineering. We are also in a way to provide a online course module for the spread of our innovative knowledge along with basic engineering materials and energy harvesting techniques.</a:t>
            </a:r>
          </a:p>
          <a:p>
            <a:r>
              <a:rPr lang="en-US" dirty="0" smtClean="0"/>
              <a:t>This courses gives you a detailed picture of the topic </a:t>
            </a:r>
            <a:r>
              <a:rPr lang="en-US" dirty="0" err="1" smtClean="0"/>
              <a:t>choosen</a:t>
            </a:r>
            <a:r>
              <a:rPr lang="en-US" dirty="0" smtClean="0"/>
              <a:t> and we will be open for any kind of discussions and queries during the course duration.</a:t>
            </a:r>
          </a:p>
          <a:p>
            <a:r>
              <a:rPr lang="en-US" dirty="0" smtClean="0"/>
              <a:t>We also provide </a:t>
            </a:r>
            <a:r>
              <a:rPr lang="en-US" dirty="0" err="1" smtClean="0"/>
              <a:t>sevices</a:t>
            </a:r>
            <a:r>
              <a:rPr lang="en-US" dirty="0" smtClean="0"/>
              <a:t> with our processing equipment and characterization equipments.</a:t>
            </a: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b="1" u="sng" dirty="0" smtClean="0"/>
              <a:t>Services</a:t>
            </a:r>
            <a:r>
              <a:rPr lang="en-US" dirty="0" smtClean="0"/>
              <a:t/>
            </a:r>
            <a:br>
              <a:rPr lang="en-US" dirty="0" smtClean="0"/>
            </a:br>
            <a:r>
              <a:rPr lang="en-US" sz="3100" i="1" dirty="0" smtClean="0"/>
              <a:t>PROCESSING EQUIPMENTS</a:t>
            </a:r>
            <a:endParaRPr lang="en-US" i="1" dirty="0"/>
          </a:p>
        </p:txBody>
      </p:sp>
      <p:sp>
        <p:nvSpPr>
          <p:cNvPr id="3" name="Content Placeholder 2"/>
          <p:cNvSpPr>
            <a:spLocks noGrp="1"/>
          </p:cNvSpPr>
          <p:nvPr>
            <p:ph idx="1"/>
          </p:nvPr>
        </p:nvSpPr>
        <p:spPr/>
        <p:txBody>
          <a:bodyPr/>
          <a:lstStyle/>
          <a:p>
            <a:pPr marL="514350" lvl="0" indent="-514350">
              <a:buFont typeface="+mj-lt"/>
              <a:buAutoNum type="arabicPeriod"/>
            </a:pPr>
            <a:r>
              <a:rPr lang="en-US" b="1" dirty="0" smtClean="0"/>
              <a:t>Environmental Controlled High Temperature Furnace:</a:t>
            </a:r>
            <a:r>
              <a:rPr lang="en-US" dirty="0" smtClean="0"/>
              <a:t> Heat treatment in controlled atmosphere</a:t>
            </a:r>
          </a:p>
          <a:p>
            <a:r>
              <a:rPr lang="en-US" b="1" dirty="0" smtClean="0"/>
              <a:t>Specification:</a:t>
            </a:r>
            <a:r>
              <a:rPr lang="en-US" dirty="0" smtClean="0"/>
              <a:t/>
            </a:r>
            <a:br>
              <a:rPr lang="en-US" dirty="0" smtClean="0"/>
            </a:br>
            <a:r>
              <a:rPr lang="en-US" dirty="0" smtClean="0"/>
              <a:t>Temperature: Room temperature to 1400 </a:t>
            </a:r>
            <a:r>
              <a:rPr lang="en-US" baseline="30000" dirty="0" smtClean="0"/>
              <a:t>0</a:t>
            </a:r>
            <a:r>
              <a:rPr lang="en-US" dirty="0" smtClean="0"/>
              <a:t>C</a:t>
            </a:r>
          </a:p>
          <a:p>
            <a:pPr>
              <a:buNone/>
            </a:pPr>
            <a:r>
              <a:rPr lang="en-US" dirty="0" smtClean="0"/>
              <a:t>    Heating rate : 0.5 0C/min to 10 0C/min</a:t>
            </a:r>
          </a:p>
          <a:p>
            <a:pPr>
              <a:buNone/>
            </a:pPr>
            <a:r>
              <a:rPr lang="en-US" dirty="0" smtClean="0"/>
              <a:t>    Environment : Air, Nitrogen, etc</a:t>
            </a:r>
          </a:p>
          <a:p>
            <a:pPr>
              <a:buNone/>
            </a:pPr>
            <a:endParaRPr lang="en-US" dirty="0" smtClean="0"/>
          </a:p>
          <a:p>
            <a:pPr>
              <a:buNone/>
            </a:pPr>
            <a:endParaRPr lang="en-US"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669694" y="1219200"/>
            <a:ext cx="5874106" cy="4343400"/>
          </a:xfrm>
          <a:prstGeom prst="rect">
            <a:avLst/>
          </a:prstGeom>
          <a:noFill/>
          <a:ln w="9525">
            <a:noFill/>
            <a:miter lim="800000"/>
            <a:headEnd/>
            <a:tailEnd/>
          </a:ln>
          <a:effectLst/>
        </p:spPr>
      </p:pic>
      <p:sp>
        <p:nvSpPr>
          <p:cNvPr id="3" name="Rectangle 2"/>
          <p:cNvSpPr/>
          <p:nvPr/>
        </p:nvSpPr>
        <p:spPr>
          <a:xfrm>
            <a:off x="1219200" y="457200"/>
            <a:ext cx="6705600" cy="830997"/>
          </a:xfrm>
          <a:prstGeom prst="rect">
            <a:avLst/>
          </a:prstGeom>
        </p:spPr>
        <p:txBody>
          <a:bodyPr wrap="square">
            <a:spAutoFit/>
          </a:bodyPr>
          <a:lstStyle/>
          <a:p>
            <a:pPr algn="ctr"/>
            <a:r>
              <a:rPr lang="en-US" sz="2400" b="1" dirty="0" smtClean="0"/>
              <a:t>Environmental</a:t>
            </a:r>
            <a:r>
              <a:rPr lang="en-US" b="1" dirty="0" smtClean="0"/>
              <a:t> </a:t>
            </a:r>
            <a:r>
              <a:rPr lang="en-US" sz="2400" b="1" dirty="0" smtClean="0"/>
              <a:t>Controlled</a:t>
            </a:r>
            <a:r>
              <a:rPr lang="en-US" b="1" dirty="0" smtClean="0"/>
              <a:t> </a:t>
            </a:r>
            <a:r>
              <a:rPr lang="en-US" sz="2400" b="1" dirty="0" smtClean="0"/>
              <a:t>High</a:t>
            </a:r>
            <a:r>
              <a:rPr lang="en-US" b="1" dirty="0" smtClean="0"/>
              <a:t> </a:t>
            </a:r>
            <a:r>
              <a:rPr lang="en-US" sz="2400" b="1" dirty="0" smtClean="0"/>
              <a:t>Temperature</a:t>
            </a:r>
            <a:r>
              <a:rPr lang="en-US" b="1" dirty="0" smtClean="0"/>
              <a:t> </a:t>
            </a:r>
            <a:r>
              <a:rPr lang="en-US" sz="2400" b="1" dirty="0" smtClean="0"/>
              <a:t>Furnace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dirty="0" smtClean="0"/>
              <a:t>2. </a:t>
            </a:r>
            <a:r>
              <a:rPr lang="en-US" b="1" dirty="0" smtClean="0"/>
              <a:t>Specimen Cutting Machine-  </a:t>
            </a:r>
            <a:r>
              <a:rPr lang="en-US" dirty="0" smtClean="0"/>
              <a:t>Metallic, polymer, etc</a:t>
            </a:r>
            <a:r>
              <a:rPr lang="en-US" b="1" dirty="0" smtClean="0"/>
              <a:t/>
            </a:r>
            <a:br>
              <a:rPr lang="en-US" b="1" dirty="0" smtClean="0"/>
            </a:br>
            <a:r>
              <a:rPr lang="en-US" b="1" dirty="0" smtClean="0"/>
              <a:t>Specification:</a:t>
            </a:r>
            <a:endParaRPr lang="en-US" dirty="0" smtClean="0"/>
          </a:p>
          <a:p>
            <a:pPr>
              <a:buNone/>
            </a:pPr>
            <a:r>
              <a:rPr lang="en-US" dirty="0" smtClean="0"/>
              <a:t>    RPM- 1500 max</a:t>
            </a:r>
          </a:p>
          <a:p>
            <a:pPr>
              <a:buNone/>
            </a:pPr>
            <a:r>
              <a:rPr lang="en-US" dirty="0" smtClean="0"/>
              <a:t>    Wheel size: 33 x 2 x 32 mm</a:t>
            </a:r>
          </a:p>
          <a:p>
            <a:pPr>
              <a:buNone/>
            </a:pPr>
            <a:r>
              <a:rPr lang="en-US" dirty="0" smtClean="0"/>
              <a:t>    Sample size (max): 30 mm x30 mm</a:t>
            </a:r>
          </a:p>
          <a:p>
            <a:pPr marL="514350" indent="-51435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590800" y="609600"/>
            <a:ext cx="4838700" cy="5535412"/>
          </a:xfrm>
          <a:prstGeom prst="rect">
            <a:avLst/>
          </a:prstGeom>
          <a:noFill/>
          <a:ln w="9525">
            <a:noFill/>
            <a:miter lim="800000"/>
            <a:headEnd/>
            <a:tailEnd/>
          </a:ln>
          <a:effectLst/>
        </p:spPr>
      </p:pic>
      <p:sp>
        <p:nvSpPr>
          <p:cNvPr id="3" name="Rectangle 2"/>
          <p:cNvSpPr/>
          <p:nvPr/>
        </p:nvSpPr>
        <p:spPr>
          <a:xfrm>
            <a:off x="1295400" y="381000"/>
            <a:ext cx="5867400" cy="461665"/>
          </a:xfrm>
          <a:prstGeom prst="rect">
            <a:avLst/>
          </a:prstGeom>
        </p:spPr>
        <p:txBody>
          <a:bodyPr wrap="square">
            <a:spAutoFit/>
          </a:bodyPr>
          <a:lstStyle/>
          <a:p>
            <a:pPr algn="ctr"/>
            <a:r>
              <a:rPr lang="en-US" sz="2400" b="1" dirty="0" smtClean="0"/>
              <a:t>Specimen Cutting Machine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lvl="0">
              <a:buNone/>
            </a:pPr>
            <a:r>
              <a:rPr lang="en-US" b="1" dirty="0" smtClean="0"/>
              <a:t>3. Single/Double Disc Polishing Machine</a:t>
            </a:r>
            <a:r>
              <a:rPr lang="en-US" dirty="0" smtClean="0"/>
              <a:t>- Polishing of samples to get smooth surface finish</a:t>
            </a:r>
          </a:p>
          <a:p>
            <a:pPr>
              <a:buNone/>
            </a:pPr>
            <a:r>
              <a:rPr lang="en-US" b="1" dirty="0" smtClean="0"/>
              <a:t>    Specification:</a:t>
            </a:r>
          </a:p>
          <a:p>
            <a:pPr>
              <a:buNone/>
            </a:pPr>
            <a:r>
              <a:rPr lang="en-US" b="1" dirty="0" smtClean="0"/>
              <a:t>   </a:t>
            </a:r>
            <a:r>
              <a:rPr lang="en-US" dirty="0" smtClean="0"/>
              <a:t> Diameter of disc: 200 mm</a:t>
            </a:r>
            <a:br>
              <a:rPr lang="en-US" dirty="0" smtClean="0"/>
            </a:br>
            <a:r>
              <a:rPr lang="en-US" dirty="0" smtClean="0"/>
              <a:t>Rotation: 300-650 rpm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1371600" y="1752600"/>
            <a:ext cx="5715000" cy="3352800"/>
          </a:xfrm>
          <a:prstGeom prst="rect">
            <a:avLst/>
          </a:prstGeom>
          <a:noFill/>
          <a:ln w="9525">
            <a:noFill/>
            <a:miter lim="800000"/>
            <a:headEnd/>
            <a:tailEnd/>
          </a:ln>
          <a:effectLst/>
        </p:spPr>
      </p:pic>
      <p:sp>
        <p:nvSpPr>
          <p:cNvPr id="3" name="Rectangle 2"/>
          <p:cNvSpPr/>
          <p:nvPr/>
        </p:nvSpPr>
        <p:spPr>
          <a:xfrm>
            <a:off x="1524000" y="609600"/>
            <a:ext cx="6172200" cy="523220"/>
          </a:xfrm>
          <a:prstGeom prst="rect">
            <a:avLst/>
          </a:prstGeom>
        </p:spPr>
        <p:txBody>
          <a:bodyPr wrap="square">
            <a:spAutoFit/>
          </a:bodyPr>
          <a:lstStyle/>
          <a:p>
            <a:pPr algn="ctr"/>
            <a:r>
              <a:rPr lang="en-US" sz="2800" b="1" dirty="0" smtClean="0"/>
              <a:t>Single/Double Disc Polishing Machine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b="1" dirty="0" smtClean="0"/>
              <a:t>Universal Testing Machine-</a:t>
            </a:r>
            <a:r>
              <a:rPr lang="en-US" dirty="0" smtClean="0"/>
              <a:t> Studies of strain-strain behavior of materials</a:t>
            </a:r>
          </a:p>
          <a:p>
            <a:r>
              <a:rPr lang="en-US" b="1" dirty="0" smtClean="0"/>
              <a:t>Specification:</a:t>
            </a:r>
            <a:r>
              <a:rPr lang="en-US" dirty="0" smtClean="0"/>
              <a:t/>
            </a:r>
            <a:br>
              <a:rPr lang="en-US" dirty="0" smtClean="0"/>
            </a:br>
            <a:r>
              <a:rPr lang="en-US" dirty="0" smtClean="0"/>
              <a:t>Max force- 100 kN</a:t>
            </a:r>
            <a:br>
              <a:rPr lang="en-US" dirty="0" smtClean="0"/>
            </a:br>
            <a:r>
              <a:rPr lang="en-US" dirty="0" smtClean="0"/>
              <a:t>Cross head speed- 5 mm/min to 100 mm/min</a:t>
            </a:r>
            <a:br>
              <a:rPr lang="en-US" dirty="0" smtClean="0"/>
            </a:br>
            <a:r>
              <a:rPr lang="en-US" dirty="0" smtClean="0"/>
              <a:t>Travel length- 450 mm</a:t>
            </a:r>
            <a:br>
              <a:rPr lang="en-US" dirty="0" smtClean="0"/>
            </a:br>
            <a:r>
              <a:rPr lang="en-US" dirty="0" smtClean="0"/>
              <a:t>Test types- Tension, Compression, and Flexural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srcRect/>
          <a:stretch>
            <a:fillRect/>
          </a:stretch>
        </p:blipFill>
        <p:spPr bwMode="auto">
          <a:xfrm>
            <a:off x="2667000" y="1371600"/>
            <a:ext cx="4038600" cy="4419600"/>
          </a:xfrm>
          <a:prstGeom prst="rect">
            <a:avLst/>
          </a:prstGeom>
          <a:noFill/>
          <a:ln w="9525">
            <a:noFill/>
            <a:miter lim="800000"/>
            <a:headEnd/>
            <a:tailEnd/>
          </a:ln>
          <a:effectLst/>
        </p:spPr>
      </p:pic>
      <p:sp>
        <p:nvSpPr>
          <p:cNvPr id="3" name="Rectangle 2"/>
          <p:cNvSpPr/>
          <p:nvPr/>
        </p:nvSpPr>
        <p:spPr>
          <a:xfrm>
            <a:off x="762000" y="914400"/>
            <a:ext cx="7162800" cy="646331"/>
          </a:xfrm>
          <a:prstGeom prst="rect">
            <a:avLst/>
          </a:prstGeom>
        </p:spPr>
        <p:txBody>
          <a:bodyPr wrap="square">
            <a:spAutoFit/>
          </a:bodyPr>
          <a:lstStyle/>
          <a:p>
            <a:pPr algn="ctr"/>
            <a:r>
              <a:rPr lang="en-US" sz="3600" b="1" dirty="0" smtClean="0"/>
              <a:t>Universal Testing Machine</a:t>
            </a:r>
            <a:endParaRPr 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Characterization Equipment</a:t>
            </a:r>
            <a:endParaRPr lang="en-US" dirty="0"/>
          </a:p>
        </p:txBody>
      </p:sp>
      <p:sp>
        <p:nvSpPr>
          <p:cNvPr id="3" name="Content Placeholder 2"/>
          <p:cNvSpPr>
            <a:spLocks noGrp="1"/>
          </p:cNvSpPr>
          <p:nvPr>
            <p:ph idx="1"/>
          </p:nvPr>
        </p:nvSpPr>
        <p:spPr/>
        <p:txBody>
          <a:bodyPr/>
          <a:lstStyle/>
          <a:p>
            <a:pPr lvl="0">
              <a:buNone/>
            </a:pPr>
            <a:r>
              <a:rPr lang="en-US" b="1" dirty="0" smtClean="0"/>
              <a:t>1. Shore A Durometer-</a:t>
            </a:r>
            <a:r>
              <a:rPr lang="en-US" dirty="0" smtClean="0"/>
              <a:t> Measurement of hardness for soft materials like rubber</a:t>
            </a:r>
          </a:p>
          <a:p>
            <a:r>
              <a:rPr lang="en-US" b="1" dirty="0" smtClean="0"/>
              <a:t>Specification:</a:t>
            </a:r>
            <a:r>
              <a:rPr lang="en-US" dirty="0" smtClean="0"/>
              <a:t/>
            </a:r>
            <a:br>
              <a:rPr lang="en-US" dirty="0" smtClean="0"/>
            </a:br>
            <a:r>
              <a:rPr lang="en-US" dirty="0" smtClean="0"/>
              <a:t>Preload: 0.45 </a:t>
            </a:r>
            <a:r>
              <a:rPr lang="en-US" dirty="0" err="1" smtClean="0"/>
              <a:t>Kgf</a:t>
            </a:r>
            <a:r>
              <a:rPr lang="en-US" dirty="0" smtClean="0"/>
              <a:t/>
            </a:r>
            <a:br>
              <a:rPr lang="en-US" dirty="0" smtClean="0"/>
            </a:br>
            <a:r>
              <a:rPr lang="en-US" dirty="0" smtClean="0"/>
              <a:t>Major Load: 8.06 N</a:t>
            </a:r>
            <a:br>
              <a:rPr lang="en-US" dirty="0" smtClean="0"/>
            </a:br>
            <a:r>
              <a:rPr lang="en-US" dirty="0" smtClean="0"/>
              <a:t>Indenter type- 35° truncated cone indenter</a:t>
            </a:r>
            <a:br>
              <a:rPr lang="en-US" dirty="0" smtClean="0"/>
            </a:br>
            <a:r>
              <a:rPr lang="en-US" dirty="0" smtClean="0"/>
              <a:t>Type of load- Constant contact pressure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srcRect/>
          <a:stretch>
            <a:fillRect/>
          </a:stretch>
        </p:blipFill>
        <p:spPr bwMode="auto">
          <a:xfrm>
            <a:off x="2667000" y="1600200"/>
            <a:ext cx="3752850" cy="3829050"/>
          </a:xfrm>
          <a:prstGeom prst="rect">
            <a:avLst/>
          </a:prstGeom>
          <a:noFill/>
          <a:ln w="9525">
            <a:noFill/>
            <a:miter lim="800000"/>
            <a:headEnd/>
            <a:tailEnd/>
          </a:ln>
          <a:effectLst/>
        </p:spPr>
      </p:pic>
      <p:sp>
        <p:nvSpPr>
          <p:cNvPr id="3" name="Rectangle 2"/>
          <p:cNvSpPr/>
          <p:nvPr/>
        </p:nvSpPr>
        <p:spPr>
          <a:xfrm>
            <a:off x="1219200" y="990600"/>
            <a:ext cx="6553200" cy="646331"/>
          </a:xfrm>
          <a:prstGeom prst="rect">
            <a:avLst/>
          </a:prstGeom>
        </p:spPr>
        <p:txBody>
          <a:bodyPr wrap="square">
            <a:spAutoFit/>
          </a:bodyPr>
          <a:lstStyle/>
          <a:p>
            <a:pPr algn="ctr"/>
            <a:r>
              <a:rPr lang="en-US" sz="3600" b="1" dirty="0" smtClean="0"/>
              <a:t>Shore A Durometer</a:t>
            </a:r>
            <a:endParaRPr 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None/>
            </a:pPr>
            <a:r>
              <a:rPr lang="en-US" b="1" dirty="0" smtClean="0"/>
              <a:t>2. Shore D Durometer-</a:t>
            </a:r>
            <a:r>
              <a:rPr lang="en-US" dirty="0" smtClean="0"/>
              <a:t> Measurement of harness for hard polymer</a:t>
            </a:r>
          </a:p>
          <a:p>
            <a:r>
              <a:rPr lang="en-US" b="1" dirty="0" smtClean="0"/>
              <a:t>Specification:</a:t>
            </a:r>
            <a:r>
              <a:rPr lang="en-US" dirty="0" smtClean="0"/>
              <a:t/>
            </a:r>
            <a:br>
              <a:rPr lang="en-US" dirty="0" smtClean="0"/>
            </a:br>
            <a:r>
              <a:rPr lang="en-US" dirty="0" smtClean="0"/>
              <a:t>Preload: 0.45 </a:t>
            </a:r>
            <a:r>
              <a:rPr lang="en-US" dirty="0" err="1" smtClean="0"/>
              <a:t>Kgf</a:t>
            </a:r>
            <a:r>
              <a:rPr lang="en-US" dirty="0" smtClean="0"/>
              <a:t/>
            </a:r>
            <a:br>
              <a:rPr lang="en-US" dirty="0" smtClean="0"/>
            </a:br>
            <a:r>
              <a:rPr lang="en-US" dirty="0" smtClean="0"/>
              <a:t>Major Load: 44.48 N</a:t>
            </a:r>
            <a:br>
              <a:rPr lang="en-US" dirty="0" smtClean="0"/>
            </a:br>
            <a:r>
              <a:rPr lang="en-US" dirty="0" smtClean="0"/>
              <a:t>Indenter type- 30° cone indenter</a:t>
            </a:r>
            <a:br>
              <a:rPr lang="en-US" dirty="0" smtClean="0"/>
            </a:br>
            <a:r>
              <a:rPr lang="en-US" dirty="0" smtClean="0"/>
              <a:t>Type of load- Constant contact pressure</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srcRect/>
          <a:stretch>
            <a:fillRect/>
          </a:stretch>
        </p:blipFill>
        <p:spPr bwMode="auto">
          <a:xfrm>
            <a:off x="2286000" y="1371600"/>
            <a:ext cx="4762500" cy="4238625"/>
          </a:xfrm>
          <a:prstGeom prst="rect">
            <a:avLst/>
          </a:prstGeom>
          <a:noFill/>
          <a:ln w="9525">
            <a:noFill/>
            <a:miter lim="800000"/>
            <a:headEnd/>
            <a:tailEnd/>
          </a:ln>
          <a:effectLst/>
        </p:spPr>
      </p:pic>
      <p:sp>
        <p:nvSpPr>
          <p:cNvPr id="3" name="Rectangle 2"/>
          <p:cNvSpPr/>
          <p:nvPr/>
        </p:nvSpPr>
        <p:spPr>
          <a:xfrm>
            <a:off x="1219200" y="762000"/>
            <a:ext cx="6324600" cy="584775"/>
          </a:xfrm>
          <a:prstGeom prst="rect">
            <a:avLst/>
          </a:prstGeom>
        </p:spPr>
        <p:txBody>
          <a:bodyPr wrap="square">
            <a:spAutoFit/>
          </a:bodyPr>
          <a:lstStyle/>
          <a:p>
            <a:pPr algn="ctr"/>
            <a:r>
              <a:rPr lang="en-US" sz="3200" b="1" dirty="0" smtClean="0"/>
              <a:t>Shore D Durometer</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b="1" dirty="0" smtClean="0"/>
              <a:t>3. </a:t>
            </a:r>
            <a:r>
              <a:rPr lang="en-US" b="1" dirty="0" err="1" smtClean="0"/>
              <a:t>Metallography</a:t>
            </a:r>
            <a:r>
              <a:rPr lang="en-US" b="1" dirty="0" smtClean="0"/>
              <a:t> Station Trinolcular Optical Microscope with Camera- </a:t>
            </a:r>
            <a:r>
              <a:rPr lang="en-US" dirty="0" smtClean="0"/>
              <a:t>To study surface morphology</a:t>
            </a:r>
          </a:p>
          <a:p>
            <a:r>
              <a:rPr lang="en-US" b="1" dirty="0" smtClean="0"/>
              <a:t>Specification:</a:t>
            </a:r>
            <a:r>
              <a:rPr lang="en-US" dirty="0" smtClean="0"/>
              <a:t/>
            </a:r>
            <a:br>
              <a:rPr lang="en-US" dirty="0" smtClean="0"/>
            </a:br>
            <a:r>
              <a:rPr lang="en-US" dirty="0" smtClean="0"/>
              <a:t>Magnification- 25 X to 1200X</a:t>
            </a:r>
            <a:br>
              <a:rPr lang="en-US" dirty="0" smtClean="0"/>
            </a:br>
            <a:r>
              <a:rPr lang="en-US" dirty="0" smtClean="0"/>
              <a:t>Focusing: Coarse to fine</a:t>
            </a:r>
            <a:br>
              <a:rPr lang="en-US" dirty="0" smtClean="0"/>
            </a:br>
            <a:r>
              <a:rPr lang="en-US" dirty="0" smtClean="0"/>
              <a:t>Head: Monocular, binocular/</a:t>
            </a:r>
            <a:r>
              <a:rPr lang="en-US" dirty="0" err="1" smtClean="0"/>
              <a:t>trinocular</a:t>
            </a:r>
            <a:r>
              <a:rPr lang="en-US" dirty="0" smtClean="0"/>
              <a:t/>
            </a:r>
            <a:br>
              <a:rPr lang="en-US" dirty="0" smtClean="0"/>
            </a:br>
            <a:r>
              <a:rPr lang="en-US" dirty="0" smtClean="0"/>
              <a:t>Illumination- Halogen, incident light</a:t>
            </a:r>
            <a:br>
              <a:rPr lang="en-US" dirty="0" smtClean="0"/>
            </a:br>
            <a:r>
              <a:rPr lang="en-US" dirty="0" smtClean="0"/>
              <a:t>Eye piece: 5X, 10X, 15X and 20 X</a:t>
            </a:r>
            <a:br>
              <a:rPr lang="en-US" dirty="0" smtClean="0"/>
            </a:br>
            <a:r>
              <a:rPr lang="en-US" dirty="0" smtClean="0"/>
              <a:t>Objective: 5X, 10X 20X and 40X</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2057400" y="1828800"/>
            <a:ext cx="5029201" cy="4191000"/>
          </a:xfrm>
          <a:prstGeom prst="rect">
            <a:avLst/>
          </a:prstGeom>
          <a:noFill/>
          <a:ln w="9525">
            <a:noFill/>
            <a:miter lim="800000"/>
            <a:headEnd/>
            <a:tailEnd/>
          </a:ln>
          <a:effectLst/>
        </p:spPr>
      </p:pic>
      <p:sp>
        <p:nvSpPr>
          <p:cNvPr id="3" name="Rectangle 2"/>
          <p:cNvSpPr/>
          <p:nvPr/>
        </p:nvSpPr>
        <p:spPr>
          <a:xfrm>
            <a:off x="685800" y="533400"/>
            <a:ext cx="8153400" cy="830997"/>
          </a:xfrm>
          <a:prstGeom prst="rect">
            <a:avLst/>
          </a:prstGeom>
        </p:spPr>
        <p:txBody>
          <a:bodyPr wrap="square">
            <a:spAutoFit/>
          </a:bodyPr>
          <a:lstStyle/>
          <a:p>
            <a:pPr algn="ctr"/>
            <a:r>
              <a:rPr lang="en-US" sz="2400" b="1" dirty="0" smtClean="0"/>
              <a:t>Metallographic Station Trinolcular Optical Microscope with Camera</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b="1" dirty="0" smtClean="0"/>
              <a:t>4. Surface Roughness Tester</a:t>
            </a:r>
            <a:r>
              <a:rPr lang="en-US" dirty="0" smtClean="0"/>
              <a:t>- Measurement of surface hardness</a:t>
            </a:r>
          </a:p>
          <a:p>
            <a:r>
              <a:rPr lang="en-US" b="1" dirty="0" smtClean="0"/>
              <a:t>Specification:</a:t>
            </a:r>
            <a:r>
              <a:rPr lang="en-US" dirty="0" smtClean="0"/>
              <a:t/>
            </a:r>
            <a:br>
              <a:rPr lang="en-US" dirty="0" smtClean="0"/>
            </a:br>
            <a:r>
              <a:rPr lang="en-US" dirty="0" smtClean="0"/>
              <a:t>Range: 350 m (-200 m to 150 m)</a:t>
            </a:r>
            <a:br>
              <a:rPr lang="en-US" dirty="0" smtClean="0"/>
            </a:br>
            <a:r>
              <a:rPr lang="en-US" dirty="0" smtClean="0"/>
              <a:t>Detecting mode: Skid measurement</a:t>
            </a:r>
            <a:br>
              <a:rPr lang="en-US" dirty="0" smtClean="0"/>
            </a:br>
            <a:r>
              <a:rPr lang="en-US" dirty="0" smtClean="0"/>
              <a:t>Measuring force: 4mN or 0.75 </a:t>
            </a:r>
            <a:r>
              <a:rPr lang="en-US" dirty="0" err="1" smtClean="0"/>
              <a:t>mN</a:t>
            </a:r>
            <a:r>
              <a:rPr lang="en-US" dirty="0" smtClean="0"/>
              <a:t> (Low force type)</a:t>
            </a:r>
            <a:br>
              <a:rPr lang="en-US" dirty="0" smtClean="0"/>
            </a:br>
            <a:r>
              <a:rPr lang="en-US" dirty="0" smtClean="0"/>
              <a:t>Stylus tip: Diamond, 900/</a:t>
            </a:r>
            <a:r>
              <a:rPr lang="en-US" dirty="0" err="1" smtClean="0"/>
              <a:t>mR</a:t>
            </a:r>
            <a:r>
              <a:rPr lang="en-US" dirty="0" smtClean="0"/>
              <a:t> (600/2mR: low force type)</a:t>
            </a:r>
            <a:br>
              <a:rPr lang="en-US" dirty="0" smtClean="0"/>
            </a:br>
            <a:r>
              <a:rPr lang="en-US" dirty="0" smtClean="0"/>
              <a:t>Travelling length : 6 mm</a:t>
            </a:r>
            <a:br>
              <a:rPr lang="en-US" dirty="0" smtClean="0"/>
            </a:br>
            <a:r>
              <a:rPr lang="en-US" dirty="0" smtClean="0"/>
              <a:t>Evolution length (mm) : 1.25,  4.0</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srcRect/>
          <a:stretch>
            <a:fillRect/>
          </a:stretch>
        </p:blipFill>
        <p:spPr bwMode="auto">
          <a:xfrm>
            <a:off x="2190750" y="1400175"/>
            <a:ext cx="4972050" cy="4057650"/>
          </a:xfrm>
          <a:prstGeom prst="rect">
            <a:avLst/>
          </a:prstGeom>
          <a:noFill/>
          <a:ln w="9525">
            <a:noFill/>
            <a:miter lim="800000"/>
            <a:headEnd/>
            <a:tailEnd/>
          </a:ln>
          <a:effectLst/>
        </p:spPr>
      </p:pic>
      <p:sp>
        <p:nvSpPr>
          <p:cNvPr id="3" name="Rectangle 2"/>
          <p:cNvSpPr/>
          <p:nvPr/>
        </p:nvSpPr>
        <p:spPr>
          <a:xfrm>
            <a:off x="1600200" y="457200"/>
            <a:ext cx="6400800" cy="584775"/>
          </a:xfrm>
          <a:prstGeom prst="rect">
            <a:avLst/>
          </a:prstGeom>
        </p:spPr>
        <p:txBody>
          <a:bodyPr wrap="square">
            <a:spAutoFit/>
          </a:bodyPr>
          <a:lstStyle/>
          <a:p>
            <a:pPr algn="ctr"/>
            <a:r>
              <a:rPr lang="en-US" sz="3200" b="1" dirty="0" smtClean="0"/>
              <a:t>Surface Roughness Tester</a:t>
            </a:r>
            <a:r>
              <a:rPr lang="en-US" sz="3200" dirty="0" smtClean="0"/>
              <a:t> </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buNone/>
            </a:pPr>
            <a:r>
              <a:rPr lang="en-US" b="1" dirty="0" smtClean="0"/>
              <a:t>5. Superficial Rockwell Tester</a:t>
            </a:r>
            <a:endParaRPr lang="en-US" dirty="0" smtClean="0"/>
          </a:p>
          <a:p>
            <a:r>
              <a:rPr lang="en-US" b="1" dirty="0" smtClean="0"/>
              <a:t>Specification:</a:t>
            </a:r>
            <a:r>
              <a:rPr lang="en-US" dirty="0" smtClean="0"/>
              <a:t/>
            </a:r>
            <a:br>
              <a:rPr lang="en-US" dirty="0" smtClean="0"/>
            </a:br>
            <a:r>
              <a:rPr lang="en-US" dirty="0" smtClean="0"/>
              <a:t>Range: 350 </a:t>
            </a:r>
            <a:r>
              <a:rPr lang="en-US" dirty="0" smtClean="0">
                <a:sym typeface="Symbol"/>
              </a:rPr>
              <a:t></a:t>
            </a:r>
            <a:r>
              <a:rPr lang="en-US" dirty="0" smtClean="0"/>
              <a:t>m (-200 </a:t>
            </a:r>
            <a:r>
              <a:rPr lang="en-US" dirty="0" smtClean="0">
                <a:sym typeface="Symbol"/>
              </a:rPr>
              <a:t></a:t>
            </a:r>
            <a:r>
              <a:rPr lang="en-US" dirty="0" smtClean="0"/>
              <a:t>m to 150 </a:t>
            </a:r>
            <a:r>
              <a:rPr lang="en-US" dirty="0" smtClean="0">
                <a:sym typeface="Symbol"/>
              </a:rPr>
              <a:t></a:t>
            </a:r>
            <a:r>
              <a:rPr lang="en-US" dirty="0" smtClean="0"/>
              <a:t>m)</a:t>
            </a:r>
            <a:br>
              <a:rPr lang="en-US" dirty="0" smtClean="0"/>
            </a:br>
            <a:r>
              <a:rPr lang="en-US" dirty="0" smtClean="0"/>
              <a:t>Detecting mode: Skid measurement</a:t>
            </a:r>
            <a:br>
              <a:rPr lang="en-US" dirty="0" smtClean="0"/>
            </a:br>
            <a:r>
              <a:rPr lang="en-US" dirty="0" smtClean="0"/>
              <a:t>Measuring force: 4mN or 0.75 </a:t>
            </a:r>
            <a:r>
              <a:rPr lang="en-US" dirty="0" err="1" smtClean="0"/>
              <a:t>mN</a:t>
            </a:r>
            <a:r>
              <a:rPr lang="en-US" dirty="0" smtClean="0"/>
              <a:t> (Low force type)</a:t>
            </a:r>
            <a:br>
              <a:rPr lang="en-US" dirty="0" smtClean="0"/>
            </a:br>
            <a:r>
              <a:rPr lang="en-US" dirty="0" smtClean="0"/>
              <a:t>Stylus tip: Diamond, 900/</a:t>
            </a:r>
            <a:r>
              <a:rPr lang="en-US" dirty="0" smtClean="0">
                <a:sym typeface="Symbol"/>
              </a:rPr>
              <a:t></a:t>
            </a:r>
            <a:r>
              <a:rPr lang="en-US" dirty="0" err="1" smtClean="0"/>
              <a:t>mR</a:t>
            </a:r>
            <a:r>
              <a:rPr lang="en-US" dirty="0" smtClean="0"/>
              <a:t> (600/2</a:t>
            </a:r>
            <a:r>
              <a:rPr lang="en-US" dirty="0" smtClean="0">
                <a:sym typeface="Symbol"/>
              </a:rPr>
              <a:t></a:t>
            </a:r>
            <a:r>
              <a:rPr lang="en-US" dirty="0" err="1" smtClean="0"/>
              <a:t>mR</a:t>
            </a:r>
            <a:r>
              <a:rPr lang="en-US" dirty="0" smtClean="0"/>
              <a:t>: low force type)</a:t>
            </a:r>
            <a:br>
              <a:rPr lang="en-US" dirty="0" smtClean="0"/>
            </a:br>
            <a:r>
              <a:rPr lang="en-US" dirty="0" smtClean="0"/>
              <a:t>Travelling length : 6 mm</a:t>
            </a:r>
            <a:br>
              <a:rPr lang="en-US" dirty="0" smtClean="0"/>
            </a:br>
            <a:r>
              <a:rPr lang="en-US" dirty="0" smtClean="0"/>
              <a:t>Evolution length (mm) : 1.25,  4.0</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p:cNvPicPr>
            <a:picLocks noChangeAspect="1" noChangeArrowheads="1"/>
          </p:cNvPicPr>
          <p:nvPr/>
        </p:nvPicPr>
        <p:blipFill>
          <a:blip r:embed="rId2"/>
          <a:srcRect/>
          <a:stretch>
            <a:fillRect/>
          </a:stretch>
        </p:blipFill>
        <p:spPr bwMode="auto">
          <a:xfrm>
            <a:off x="2286000" y="1828800"/>
            <a:ext cx="4019550" cy="4038600"/>
          </a:xfrm>
          <a:prstGeom prst="rect">
            <a:avLst/>
          </a:prstGeom>
          <a:noFill/>
          <a:ln w="9525">
            <a:noFill/>
            <a:miter lim="800000"/>
            <a:headEnd/>
            <a:tailEnd/>
          </a:ln>
          <a:effectLst/>
        </p:spPr>
      </p:pic>
      <p:sp>
        <p:nvSpPr>
          <p:cNvPr id="4" name="Rectangle 3"/>
          <p:cNvSpPr/>
          <p:nvPr/>
        </p:nvSpPr>
        <p:spPr>
          <a:xfrm>
            <a:off x="1219200" y="838200"/>
            <a:ext cx="5715000" cy="584775"/>
          </a:xfrm>
          <a:prstGeom prst="rect">
            <a:avLst/>
          </a:prstGeom>
        </p:spPr>
        <p:txBody>
          <a:bodyPr wrap="square">
            <a:spAutoFit/>
          </a:bodyPr>
          <a:lstStyle/>
          <a:p>
            <a:pPr algn="ctr"/>
            <a:r>
              <a:rPr lang="en-US" sz="3200" b="1" dirty="0" smtClean="0"/>
              <a:t>Superficial Rockwell Tester</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buNone/>
            </a:pPr>
            <a:r>
              <a:rPr lang="en-US" b="1" dirty="0" smtClean="0"/>
              <a:t>6. Brinell Hardness Tester-</a:t>
            </a:r>
            <a:r>
              <a:rPr lang="en-US" dirty="0" smtClean="0"/>
              <a:t> Brinell hardness test of Metals</a:t>
            </a:r>
          </a:p>
          <a:p>
            <a:r>
              <a:rPr lang="en-US" b="1" dirty="0" smtClean="0"/>
              <a:t>Specification:</a:t>
            </a:r>
            <a:r>
              <a:rPr lang="en-US" dirty="0" smtClean="0"/>
              <a:t/>
            </a:r>
            <a:br>
              <a:rPr lang="en-US" dirty="0" smtClean="0"/>
            </a:br>
            <a:r>
              <a:rPr lang="en-US" dirty="0" smtClean="0"/>
              <a:t>Preload: 250 </a:t>
            </a:r>
            <a:r>
              <a:rPr lang="en-US" dirty="0" err="1" smtClean="0"/>
              <a:t>Kgf</a:t>
            </a:r>
            <a:r>
              <a:rPr lang="en-US" dirty="0" smtClean="0"/>
              <a:t/>
            </a:r>
            <a:br>
              <a:rPr lang="en-US" dirty="0" smtClean="0"/>
            </a:br>
            <a:r>
              <a:rPr lang="en-US" dirty="0" smtClean="0"/>
              <a:t>Major Load - 250-3000 </a:t>
            </a:r>
            <a:r>
              <a:rPr lang="en-US" dirty="0" err="1" smtClean="0"/>
              <a:t>Kgf</a:t>
            </a:r>
            <a:r>
              <a:rPr lang="en-US" dirty="0" smtClean="0"/>
              <a:t> in range of 250 </a:t>
            </a:r>
            <a:r>
              <a:rPr lang="en-US" dirty="0" err="1" smtClean="0"/>
              <a:t>Kgf</a:t>
            </a:r>
            <a:r>
              <a:rPr lang="en-US" dirty="0" smtClean="0"/>
              <a:t/>
            </a:r>
            <a:br>
              <a:rPr lang="en-US" dirty="0" smtClean="0"/>
            </a:br>
            <a:r>
              <a:rPr lang="en-US" dirty="0" smtClean="0"/>
              <a:t>250, 500, 750, 1000, 1250, 1500 </a:t>
            </a:r>
            <a:r>
              <a:rPr lang="en-US" dirty="0" err="1" smtClean="0"/>
              <a:t>Kgf</a:t>
            </a:r>
            <a:r>
              <a:rPr lang="en-US" dirty="0" smtClean="0"/>
              <a:t/>
            </a:r>
            <a:br>
              <a:rPr lang="en-US" dirty="0" smtClean="0"/>
            </a:br>
            <a:r>
              <a:rPr lang="en-US" dirty="0" smtClean="0"/>
              <a:t>Maximum test height- 410 mm</a:t>
            </a:r>
            <a:br>
              <a:rPr lang="en-US" dirty="0" smtClean="0"/>
            </a:br>
            <a:r>
              <a:rPr lang="en-US" dirty="0" smtClean="0"/>
              <a:t>Depth of throat- 205 mm</a:t>
            </a:r>
            <a:br>
              <a:rPr lang="en-US" dirty="0" smtClean="0"/>
            </a:br>
            <a:r>
              <a:rPr lang="en-US" dirty="0" smtClean="0"/>
              <a:t>Max depth of spindle below base – 180 mm</a:t>
            </a:r>
            <a:br>
              <a:rPr lang="en-US" dirty="0" smtClean="0"/>
            </a:br>
            <a:r>
              <a:rPr lang="en-US" dirty="0" smtClean="0"/>
              <a:t>Steel ball diameter (</a:t>
            </a:r>
            <a:r>
              <a:rPr lang="en-US" dirty="0" err="1" smtClean="0"/>
              <a:t>Indentor</a:t>
            </a:r>
            <a:r>
              <a:rPr lang="en-US" dirty="0" smtClean="0"/>
              <a:t>)- 10 mm , 5 mm, 2.5 mm</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2514600" y="1752600"/>
            <a:ext cx="4010025" cy="3429000"/>
          </a:xfrm>
          <a:prstGeom prst="rect">
            <a:avLst/>
          </a:prstGeom>
          <a:noFill/>
          <a:ln w="9525">
            <a:noFill/>
            <a:miter lim="800000"/>
            <a:headEnd/>
            <a:tailEnd/>
          </a:ln>
          <a:effectLst/>
        </p:spPr>
      </p:pic>
      <p:sp>
        <p:nvSpPr>
          <p:cNvPr id="3" name="Rectangle 2"/>
          <p:cNvSpPr/>
          <p:nvPr/>
        </p:nvSpPr>
        <p:spPr>
          <a:xfrm>
            <a:off x="1524000" y="914400"/>
            <a:ext cx="6096000" cy="523220"/>
          </a:xfrm>
          <a:prstGeom prst="rect">
            <a:avLst/>
          </a:prstGeom>
        </p:spPr>
        <p:txBody>
          <a:bodyPr wrap="square">
            <a:spAutoFit/>
          </a:bodyPr>
          <a:lstStyle/>
          <a:p>
            <a:pPr algn="ctr"/>
            <a:r>
              <a:rPr lang="en-US" sz="2800" b="1" dirty="0" smtClean="0"/>
              <a:t> Brinell Hardness Tester</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buNone/>
            </a:pPr>
            <a:r>
              <a:rPr lang="en-US" b="1" dirty="0" smtClean="0"/>
              <a:t>7. Vickers Hardness Tester-</a:t>
            </a:r>
            <a:r>
              <a:rPr lang="en-US" dirty="0" smtClean="0"/>
              <a:t> Vickers hardness tester of metals</a:t>
            </a:r>
          </a:p>
          <a:p>
            <a:r>
              <a:rPr lang="en-US" b="1" dirty="0" smtClean="0"/>
              <a:t>Specification:</a:t>
            </a:r>
            <a:endParaRPr lang="en-US" dirty="0" smtClean="0"/>
          </a:p>
          <a:p>
            <a:pPr>
              <a:buNone/>
            </a:pPr>
            <a:r>
              <a:rPr lang="en-US" dirty="0" smtClean="0"/>
              <a:t>    Load- 5 </a:t>
            </a:r>
            <a:r>
              <a:rPr lang="en-US" dirty="0" err="1" smtClean="0"/>
              <a:t>Kgf</a:t>
            </a:r>
            <a:r>
              <a:rPr lang="en-US" dirty="0" smtClean="0"/>
              <a:t> to 50 </a:t>
            </a:r>
            <a:r>
              <a:rPr lang="en-US" dirty="0" err="1" smtClean="0"/>
              <a:t>Kgf</a:t>
            </a:r>
            <a:r>
              <a:rPr lang="en-US" dirty="0" smtClean="0"/>
              <a:t/>
            </a:r>
            <a:br>
              <a:rPr lang="en-US" dirty="0" smtClean="0"/>
            </a:br>
            <a:r>
              <a:rPr lang="en-US" dirty="0" smtClean="0"/>
              <a:t>30, 40, 50 </a:t>
            </a:r>
            <a:r>
              <a:rPr lang="en-US" dirty="0" err="1" smtClean="0"/>
              <a:t>Kgf</a:t>
            </a:r>
            <a:r>
              <a:rPr lang="en-US" dirty="0" smtClean="0"/>
              <a:t> (loads 5, 10, 15, 20 not working properly)</a:t>
            </a:r>
            <a:br>
              <a:rPr lang="en-US" dirty="0" smtClean="0"/>
            </a:br>
            <a:r>
              <a:rPr lang="en-US" dirty="0" err="1" smtClean="0"/>
              <a:t>Indentor</a:t>
            </a:r>
            <a:r>
              <a:rPr lang="en-US" dirty="0" smtClean="0"/>
              <a:t> – diamond</a:t>
            </a:r>
            <a:br>
              <a:rPr lang="en-US" dirty="0" smtClean="0"/>
            </a:br>
            <a:r>
              <a:rPr lang="en-US" dirty="0" smtClean="0"/>
              <a:t>Magnification- 25 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2057400" y="1295400"/>
            <a:ext cx="5105400" cy="4191000"/>
          </a:xfrm>
          <a:prstGeom prst="rect">
            <a:avLst/>
          </a:prstGeom>
          <a:noFill/>
          <a:ln w="9525">
            <a:noFill/>
            <a:miter lim="800000"/>
            <a:headEnd/>
            <a:tailEnd/>
          </a:ln>
          <a:effectLst/>
        </p:spPr>
      </p:pic>
      <p:sp>
        <p:nvSpPr>
          <p:cNvPr id="3" name="Rectangle 2"/>
          <p:cNvSpPr/>
          <p:nvPr/>
        </p:nvSpPr>
        <p:spPr>
          <a:xfrm>
            <a:off x="1219200" y="685800"/>
            <a:ext cx="7086600" cy="584775"/>
          </a:xfrm>
          <a:prstGeom prst="rect">
            <a:avLst/>
          </a:prstGeom>
        </p:spPr>
        <p:txBody>
          <a:bodyPr wrap="square">
            <a:spAutoFit/>
          </a:bodyPr>
          <a:lstStyle/>
          <a:p>
            <a:pPr algn="ctr"/>
            <a:r>
              <a:rPr lang="en-US" sz="3200" b="1" dirty="0" smtClean="0"/>
              <a:t>Vickers Hardness Tester</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489</Words>
  <Application>Microsoft Office PowerPoint</Application>
  <PresentationFormat>On-screen Show (4:3)</PresentationFormat>
  <Paragraphs>76</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Website design</vt:lpstr>
      <vt:lpstr>IDs and Pass</vt:lpstr>
      <vt:lpstr>Contact details</vt:lpstr>
      <vt:lpstr>About us</vt:lpstr>
      <vt:lpstr>Services PROCESSING EQUIPMENTS</vt:lpstr>
      <vt:lpstr>Slide 6</vt:lpstr>
      <vt:lpstr>Slide 7</vt:lpstr>
      <vt:lpstr>Slide 8</vt:lpstr>
      <vt:lpstr>Slide 9</vt:lpstr>
      <vt:lpstr>Slide 10</vt:lpstr>
      <vt:lpstr>Slide 11</vt:lpstr>
      <vt:lpstr>Slide 12</vt:lpstr>
      <vt:lpstr>Characterization Equipment</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design</dc:title>
  <dc:creator>HP</dc:creator>
  <cp:lastModifiedBy>HP</cp:lastModifiedBy>
  <cp:revision>52</cp:revision>
  <dcterms:created xsi:type="dcterms:W3CDTF">2006-08-16T00:00:00Z</dcterms:created>
  <dcterms:modified xsi:type="dcterms:W3CDTF">2021-09-05T18:10:49Z</dcterms:modified>
</cp:coreProperties>
</file>